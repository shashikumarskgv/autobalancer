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36576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2D3EE"/>
                </a:solidFill>
              </a:defRPr>
            </a:pPr>
            <a:r>
              <a:t>⚡ AI-POWERED CLOSED-LOOP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Trebuchet MS"/>
              </a:defRPr>
            </a:pPr>
            <a:r>
              <a:t>GAME DIFFICULTY</a:t>
            </a:r>
            <a:br/>
            <a:r>
              <a:t>AUTO-BALANCING SYSTEM</a:t>
            </a:r>
          </a:p>
          <a:p>
            <a:br/>
            <a:pPr>
              <a:defRPr sz="1500">
                <a:solidFill>
                  <a:srgbClr val="22D3EE"/>
                </a:solidFill>
                <a:latin typeface="Calibri"/>
              </a:defRPr>
            </a:pPr>
            <a:r>
              <a:t>Real-Time Telemetry Analysis &amp; Machine Learning Rate-of-Change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14800"/>
            <a:ext cx="6217920" cy="16459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ACADEMIC CAPSTONE / FINAL YEAR ENGINEERING PROJECT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Department of Computer Science &amp; Engineering | 2026–27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Stack: Next.js 14 • Node/Express • Python FastAPI • Scikit-Learn • Socket.IO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097280"/>
            <a:ext cx="3474720" cy="466344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20040"/>
          <a:lstStyle/>
          <a:p>
            <a:pPr algn="ctr">
              <a:defRPr sz="1200" b="1">
                <a:solidFill>
                  <a:srgbClr val="22D3EE"/>
                </a:solidFill>
              </a:defRPr>
            </a:pPr>
            <a:r>
              <a:t>CORE SYSTEM SPECS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Champion ML Model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   Gradient Boosting (98.33% Acc)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CV Generalization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   98.19% ± 0.27% (5-Fold)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Difficulty Dynamic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   5 Levels (Dynamic Target Speed/Rate)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Sync Latency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   &lt; 50ms Real-Time WebSockets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Controller Safety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   6 Production Guardrails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Arena Resolution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   900 x 520 Coordinate Scaled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GAME DIFFICULTY AUTO-BALANCING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The Problem: The Flaw of Fixed Game Difficulty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34747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22D3EE"/>
                </a:solidFill>
              </a:defRPr>
            </a:pPr>
            <a:r>
              <a:t>😐 TOO EASY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Static Level 1–2 for skilled players</a:t>
            </a:r>
            <a:br/>
            <a:r>
              <a:t>• Zero challenge or engagement</a:t>
            </a:r>
            <a:br/>
            <a:r>
              <a:t>• Lack of skill progression</a:t>
            </a:r>
            <a:br/>
            <a:r>
              <a:t>• High churn due to boredom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34747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🎯 OPTIMAL FLOW CHANNEL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Difficulty scales with mastery</a:t>
            </a:r>
            <a:br/>
            <a:r>
              <a:t>• Player skill matches challenge</a:t>
            </a:r>
            <a:br/>
            <a:r>
              <a:t>• Maximum immersion &amp; retention</a:t>
            </a:r>
            <a:br/>
            <a:r>
              <a:t>• Flow Channel (Csikszentmihalyi)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291840" cy="34747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😤 TOO HARD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Sudden difficulty spikes</a:t>
            </a:r>
            <a:br/>
            <a:r>
              <a:t>• Core breaches &amp; rapid defeats</a:t>
            </a:r>
            <a:br/>
            <a:r>
              <a:t>• Unforgiving reaction thresholds</a:t>
            </a:r>
            <a:br/>
            <a:r>
              <a:t>• Rage quit &amp; player abandonment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sz="1200">
                <a:solidFill>
                  <a:srgbClr val="F8FAFC"/>
                </a:solidFill>
              </a:defRPr>
            </a:pPr>
            <a:r>
              <a:t>KEY TAKEAWAY: Traditional static game difficulty forces players into predefined difficulty tiers without regard to real-time fatigue or mechanical competence. An intelligent closed-loop rate-of-change controller is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GAME DIFFICULTY AUTO-BALANCING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Project Objectives: Five Core Engineering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🎯 1. REAL-TIME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Stream micro-gameplay events (hits, misses, reaction time in ms, core health, survival duration) asynchronously from browser canvas to backend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201168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📊 2. FEATURE VECTORIZATION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Engineered 14 comprehensive metrics blending spatial accuracy, lifetime skill baselines, and short-term 3-game temporal performance momentum.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291840" cy="201168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🤖 3. ML RATE-OF-CHANGE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Classify player state into 3 step adjustments (-1 Decrease, 0 Maintain, +1 Increase) with calibrated probabilities via FastAPI microservice.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931920"/>
            <a:ext cx="3291840" cy="201168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🛡️ 4. PRODUCTION GUARDRAILS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Enforce 6 deterministic stability rules: Level 1–5 bounds, ±1 step limits, 30s cooldowns, sample size floors, hysteresis, and 65% confidence filters.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3291840" cy="201168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⚡ 5. ZERO-REFRESH FEEDBACK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Synchronize verified level adjustments via Socket.IO directly to active game sessions and player dashboards without gameplay interruption.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GAME DIFFICULTY AUTO-BALANCING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Proposed Solution: The Closed-Loop Adaptation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92024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1. PLAYER INPUT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Mouse clicks &amp; reticle aiming in 900x520 arena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192024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2. EVENT STREAMING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Fast HTTP POST events: TARGET_HIT, MISS, DAMAGE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192024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3. 14-FEATURE VECTOR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Accuracy, Reaction Time, Trend, Win/Loss Streaks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023360"/>
            <a:ext cx="3383280" cy="192024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4. ML INFERENCE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Champion Gradient Boosting predicts -1, 0, or +1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3383280" cy="192024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5. GUARDRAIL CONTROL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Checks cooldown, confidence, hysteresis, clamp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83280" cy="192024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6. WEBSOCKET SYNC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Socket.IO updates arena HUD &amp; speeds in &lt;50ms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566160"/>
            <a:ext cx="4297680" cy="4114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⚡ CONTINUOUS FEEDBACK LOOP — ZERO MANUAL INTERVENTION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GAME DIFFICULTY AUTO-BALANCING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System Architecture: End-to-End Microservice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CLIENT TIER</a:t>
            </a:r>
            <a:br/>
            <a:r>
              <a:t>Next.js 14 Web App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Target Survival Canvas Arena</a:t>
            </a:r>
            <a:br/>
            <a:r>
              <a:t>• Real-Time Reticle &amp; Scaled Coords</a:t>
            </a:r>
            <a:br/>
            <a:r>
              <a:t>• Socket.IO Client HUD Listener</a:t>
            </a:r>
            <a:br/>
            <a:r>
              <a:t>• Recharts Empirical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74320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API &amp; LOGIC TIER</a:t>
            </a:r>
            <a:br/>
            <a:r>
              <a:t>Express.js + Prisma ORM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JWT Auth &amp; Player Profiles</a:t>
            </a:r>
            <a:br/>
            <a:r>
              <a:t>• Telemetry Ingestion API</a:t>
            </a:r>
            <a:br/>
            <a:r>
              <a:t>• Performance Engine (14 Features)</a:t>
            </a:r>
            <a:br/>
            <a:r>
              <a:t>• Dynamic Difficulty Controller</a:t>
            </a:r>
            <a:br/>
            <a:r>
              <a:t>• Socket.IO Gateway Broadcast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265176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INFERENCE TIER</a:t>
            </a:r>
            <a:br/>
            <a:r>
              <a:t>Python 3.13 FastAPI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Champion Gradient Boosting</a:t>
            </a:r>
            <a:br/>
            <a:r>
              <a:t>• Fallback Heuristic Classifier</a:t>
            </a:r>
            <a:br/>
            <a:r>
              <a:t>• Latency: &lt;15ms Round-Trip</a:t>
            </a:r>
            <a:br/>
            <a:r>
              <a:t>• Model Switching &amp; Retraining API</a:t>
            </a:r>
            <a:br/>
            <a:r>
              <a:t>• Joblib Model Serialization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645920"/>
            <a:ext cx="201168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PERSISTENCE</a:t>
            </a:r>
            <a:br/>
            <a:r>
              <a:t>PostgreSQL / SQLite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Player Accounts &amp; Passwords</a:t>
            </a:r>
            <a:br/>
            <a:r>
              <a:t>• Active Game Sessions</a:t>
            </a:r>
            <a:br/>
            <a:r>
              <a:t>• Granular Gameplay Events</a:t>
            </a:r>
            <a:br/>
            <a:r>
              <a:t>• Difficulty Change Audit Logs</a:t>
            </a:r>
            <a:br/>
            <a:r>
              <a:t>• Daily Snapshots &amp;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GAME DIFFICULTY AUTO-BALANCING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Target Survival Arena &amp; Telemetry Capture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🎯 TARGET SURVIVAL ARENA SIMULATOR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Virtual Arena Resolution: 900 x 520 Internal Units</a:t>
            </a:r>
            <a:br/>
            <a:r>
              <a:t>• Responsive Viewport Scaling: scaleX = canvas.width / rect.width</a:t>
            </a:r>
            <a:br/>
            <a:r>
              <a:t>• Verified Sub-pixel Raycast Hit-Testing: eliminates pointer skew</a:t>
            </a:r>
            <a:br/>
            <a:r>
              <a:t>• Active Reticle HUD tracking real-time cursor trajectory</a:t>
            </a:r>
            <a:br/>
            <a:r>
              <a:t>• Core Base Shield: 100 HP with difficulty-scaled decay rates</a:t>
            </a:r>
            <a:br/>
            <a:r>
              <a:t>• Target Lifespans: 3.5s (Level 1) down to 1.2s (Level 5)</a:t>
            </a:r>
            <a:br/>
            <a:r>
              <a:t>• Target Speeds: 60 px/s (Level 1) up to 260 px/s (Level 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📡 CAPTURED TELEMETRY EVENTS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TARGET_HIT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Target ID, reactionTime (ms), clickX, clickY, distance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TARGET_MISSED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Click coordinates, nearest target distance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CORE_DAMAGED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Elapsed survival time, core HP remaining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SESSION_START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Initial player difficulty level (1–5)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SESSION_END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Final score, total targets defeated, win/loss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GAME DIFFICULTY AUTO-BALANCING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Machine Learning Methodology: 14-Feature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📂 12,000 SYNTHETIC SAMPLES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Fixed Random Seed: 42</a:t>
            </a:r>
            <a:br/>
            <a:r>
              <a:t>• Player Archetypes:</a:t>
            </a:r>
            <a:br/>
            <a:r>
              <a:t>  - Novice (High death, &gt;600ms RT)</a:t>
            </a:r>
            <a:br/>
            <a:r>
              <a:t>  - Intermediate (~50% win, 400ms)</a:t>
            </a:r>
            <a:br/>
            <a:r>
              <a:t>  - Expert (&gt;85% acc, &lt;280ms RT)</a:t>
            </a:r>
            <a:br/>
            <a:r>
              <a:t>• Partition Split:</a:t>
            </a:r>
            <a:br/>
            <a:r>
              <a:t>  - 70% Train (8,399)</a:t>
            </a:r>
            <a:br/>
            <a:r>
              <a:t>  - 15% Validation (1,801)</a:t>
            </a:r>
            <a:br/>
            <a:r>
              <a:t>  - 15% Test (1,800)</a:t>
            </a:r>
            <a:br/>
            <a:r>
              <a:t>• 5-Fold Stratified Cross-Val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🎛️ 14 ENGINEERED FEATURES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1. current_difficulty (1–5)</a:t>
            </a:r>
            <a:br/>
            <a:r>
              <a:t>2. accuracy (0–1)</a:t>
            </a:r>
            <a:br/>
            <a:r>
              <a:t>3. win_rate (0–1)</a:t>
            </a:r>
            <a:br/>
            <a:r>
              <a:t>4. death_rate (0–1)</a:t>
            </a:r>
            <a:br/>
            <a:r>
              <a:t>5. survival_rate (0–1)</a:t>
            </a:r>
            <a:br/>
            <a:r>
              <a:t>6. average_score</a:t>
            </a:r>
            <a:br/>
            <a:r>
              <a:t>7. reaction_time (ms)</a:t>
            </a:r>
            <a:br/>
            <a:r>
              <a:t>8. completion_time (s)</a:t>
            </a:r>
            <a:br/>
            <a:r>
              <a:t>9. performance_trend (-1..1)</a:t>
            </a:r>
            <a:br/>
            <a:r>
              <a:t>10. consecutive_wins</a:t>
            </a:r>
            <a:br/>
            <a:r>
              <a:t>11. consecutive_losses</a:t>
            </a:r>
            <a:br/>
            <a:r>
              <a:t>12. recent_accuracy (last 3)</a:t>
            </a:r>
            <a:br/>
            <a:r>
              <a:t>13. recent_win_rate (last 3)</a:t>
            </a:r>
            <a:br/>
            <a:r>
              <a:t>14. recent_score (last 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🎯 3-CLASS ADJUSTMENT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[-1] DECREASE (25.28%)</a:t>
            </a:r>
            <a:br/>
            <a:r>
              <a:t>Player overwhelmed, severe failure streaks, dropping accuracy.</a:t>
            </a:r>
            <a:br/>
            <a:br/>
            <a:r>
              <a:t>[ 0] MAINTAIN (42.90%)</a:t>
            </a:r>
            <a:br/>
            <a:r>
              <a:t>Player in optimal flow state, skill evenly matched with difficulty.</a:t>
            </a:r>
            <a:br/>
            <a:br/>
            <a:r>
              <a:t>[+1] INCREASE (31.82%)</a:t>
            </a:r>
            <a:br/>
            <a:r>
              <a:t>Player dominating, rapid clears, high reaction precision streaks.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GAME DIFFICULTY AUTO-BALANCING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Model Comparison: Gradient Boosting Designated Champion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4980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371600"/>
                <a:gridCol w="1371600"/>
                <a:gridCol w="1371600"/>
              </a:tblGrid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5-Fold CV Acc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Test F1-Score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Model Status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Rule-based Baseline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76.89%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76.67%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Reference Baseline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97.32% ± 0.30%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96.28%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96.28%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Linear Classifier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97.06% ± 0.47%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96.89%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96.89%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Challenger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2C55E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2C55E"/>
                          </a:solidFill>
                        </a:defRPr>
                      </a:pPr>
                      <a:r>
                        <a:t>98.19% ± 0.27%</a:t>
                      </a:r>
                    </a:p>
                  </a:txBody>
                  <a:tcPr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2C55E"/>
                          </a:solidFill>
                        </a:defRPr>
                      </a:pPr>
                      <a:r>
                        <a:t>98.33%</a:t>
                      </a:r>
                    </a:p>
                  </a:txBody>
                  <a:tcPr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2C55E"/>
                          </a:solidFill>
                        </a:defRPr>
                      </a:pPr>
                      <a:r>
                        <a:t>98.33%</a:t>
                      </a:r>
                    </a:p>
                  </a:txBody>
                  <a:tcPr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2C55E"/>
                          </a:solidFill>
                        </a:defRPr>
                      </a:pPr>
                      <a:r>
                        <a:t>CHAMPION MODEL</a:t>
                      </a:r>
                    </a:p>
                  </a:txBody>
                  <a:tcPr>
                    <a:solidFill>
                      <a:srgbClr val="18224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645920"/>
            <a:ext cx="283464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🏆 CHAMPION MODEL</a:t>
            </a:r>
          </a:p>
          <a:p>
            <a:br/>
            <a:pPr>
              <a:defRPr sz="3600" b="1">
                <a:solidFill>
                  <a:srgbClr val="22D3EE"/>
                </a:solidFill>
              </a:defRPr>
            </a:pPr>
            <a:r>
              <a:t>98.33%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Test Accuracy &amp; F1-Score</a:t>
            </a:r>
            <a:br/>
          </a:p>
          <a:p>
            <a:pPr>
              <a:defRPr sz="1050">
                <a:solidFill>
                  <a:srgbClr val="F8FAFC"/>
                </a:solidFill>
              </a:defRPr>
            </a:pPr>
            <a:r>
              <a:t>Top Decision Drivers:</a:t>
            </a:r>
            <a:br/>
            <a:r>
              <a:t>• recent_win_rate (17.9%)</a:t>
            </a:r>
            <a:br/>
            <a:r>
              <a:t>• consecutive_losses (17.0%)</a:t>
            </a:r>
            <a:br/>
            <a:r>
              <a:t>• accuracy (12.5%)</a:t>
            </a:r>
            <a:br/>
            <a:r>
              <a:t>• recent_accuracy (11.8%)</a:t>
            </a:r>
            <a:br/>
            <a:r>
              <a:t>• consecutive_wins (9.9%)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7498079" cy="11887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🔬 METHODOLOGY &amp; TRANSPARENCY NOTE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Models evaluated on 12,000 synthetic player archetype records. High scores reflect clear archetype rules. The system is designed with production guardrails to prevent overfitting to outliers during real gameplay.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GAME DIFFICULTY AUTO-BALANCING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Dynamic Difficulty Controller: 6 Production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/>
          <a:lstStyle/>
          <a:p>
            <a:pPr algn="ctr">
              <a:defRPr sz="1200" b="1">
                <a:solidFill>
                  <a:srgbClr val="22D3EE"/>
                </a:solidFill>
              </a:defRPr>
            </a:pPr>
            <a:r>
              <a:t>🛡️ Guardrail 1: Boundary Clamp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Strictly confines difficulty between Level 1 and Level 5. Level 5 cannot increase; Level 1 cannot decrease.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⚡ Guardrail 2: Max Step Limit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Restricts adjustments to maximum ±1 level per change. Prevents abrupt jarring jumps like 2 → 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212080" cy="128016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/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⏱️ Guardrail 3: Cooldown Window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Enforces a 30-second refractory cooldown period between adjustments to allow player stabilization.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212080" cy="128016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📊 Guardrail 4: Minimum Sample Size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Requires at least 10 recorded gameplay actions before evaluating any dynamic adjustment.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/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🔄 Guardrail 5: Hysteresis Buffer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Suppresses immediate oscillating demotions (3 → 4 → 3) unless performance degradation exceeds 15%.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/>
          <a:lstStyle/>
          <a:p>
            <a:pPr algn="ctr">
              <a:defRPr sz="1200" b="1">
                <a:solidFill>
                  <a:srgbClr val="22D3EE"/>
                </a:solidFill>
              </a:defRPr>
            </a:pPr>
            <a:r>
              <a:t>🎯 Guardrail 6: Confidence Threshold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Rejects model predictions with probability below 65% (CONFIDENCE_THRESHOLD = 0.65).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GAME DIFFICULTY AUTO-BALANCING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Real-Time WebSocket Architecture: Zero-Refresh Adaptation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⚡ EVENT FLOW: SUB-50MS DYNAMIC ADJUSTMENT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1. Event Ingestion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Player defeats/misses target; client posts event payload to /api/game/event.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2. ML Evaluation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Express API constructs 14-feature vector, calls FastAPI /predict asynchronously.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3. Guardrail Audit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Difficulty controller validates against 6 safety rules and logs audit entry.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4. Socket.IO Broadcast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Server emits DIFFICULTY_UPDATED payload to authenticated room player:&lt;id&gt;.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5. Canvas Adaptation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Canvas HUD shows notification modal; target speeds &amp; spawn timers adjust smoothly.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SEAMLESS USER EXPERIENCE</a:t>
            </a:r>
          </a:p>
          <a:p>
            <a:br/>
            <a:pPr>
              <a:defRPr sz="2200" b="1">
                <a:solidFill>
                  <a:srgbClr val="22D3EE"/>
                </a:solidFill>
              </a:defRPr>
            </a:pPr>
            <a:r>
              <a:t>NO PAGE REFRESH ⚡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WebSockets bypass HTTP polling</a:t>
            </a:r>
            <a:br/>
            <a:r>
              <a:t>• Low bandwidth overhead (JSON)</a:t>
            </a:r>
            <a:br/>
            <a:r>
              <a:t>• Dedicated player room security</a:t>
            </a:r>
            <a:br/>
            <a:r>
              <a:t>• Instant visual HUD feedback</a:t>
            </a:r>
            <a:br/>
            <a:r>
              <a:t>• Player maintains focus in flow channel</a:t>
            </a:r>
            <a:br/>
            <a:r>
              <a:t>• Seamless difficulty transitions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GAME DIFFICULTY AUTO-BALANCING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Application Dashboards: Player &amp; Administrator Consoles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TARGET SURVIVAL ARENA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Canvas 2D Simulator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Reticle targeting &amp; Euclidean hits</a:t>
            </a:r>
            <a:br/>
            <a:r>
              <a:t>• Dynamic target speeds &amp; sizes</a:t>
            </a:r>
            <a:br/>
            <a:r>
              <a:t>• Real-time score &amp; core health HUD</a:t>
            </a:r>
            <a:br/>
            <a:r>
              <a:t>• In-game promotion notifications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PLAYER ANALYTICS HUB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Self-Reflection &amp; Explainability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Target Skill-Band Alignment card</a:t>
            </a:r>
            <a:br/>
            <a:r>
              <a:t>• Historical win rate &amp; accuracy</a:t>
            </a:r>
            <a:br/>
            <a:r>
              <a:t>• 'Why did difficulty change?' panel</a:t>
            </a:r>
            <a:br/>
            <a:r>
              <a:t>• Difficulty progression curves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ADMIN ML OPS CONSOLE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System Telemetry &amp; Controls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5-Fold CV metrics &amp; confusion matrix</a:t>
            </a:r>
            <a:br/>
            <a:r>
              <a:t>• Live champion model hot-switching</a:t>
            </a:r>
            <a:br/>
            <a:r>
              <a:t>• Real-time microservice latency pings</a:t>
            </a:r>
            <a:br/>
            <a:r>
              <a:t>• Complete difficulty change audit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GAME DIFFICULTY AUTO-BALANCING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Conclusion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🎯 SYSTEM ACHIEVEMENTS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Shifted from Static Difficulty to Intelligent Adaptive Balancing</a:t>
            </a:r>
            <a:br/>
            <a:r>
              <a:t>• Built closed-loop pipeline across React, Express, and FastAPI</a:t>
            </a:r>
            <a:br/>
            <a:r>
              <a:t>• Champion Gradient Boosting model achieved 98.33% accuracy</a:t>
            </a:r>
            <a:br/>
            <a:r>
              <a:t>• 6 Production guardrails ensure game stability and prevent rage quits</a:t>
            </a:r>
            <a:br/>
            <a:r>
              <a:t>• Zero-refresh WebSocket synchronization keeps players immersed in the flow channel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🚀 FUTURE ROADMAP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Phase 1: Real-Player Playtest Data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Replace synthetic dataset with live telemetry logged from active players.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Phase 2: Reinforcement Learning (RL)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Transition from discrete classification to continuous PPO / SAC policy control.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Phase 3: Unity / Unreal Engine SDK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Export C# and C++ client libraries for AAA and indie game integration.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• Phase 4: Multiplayer Matchmaking DDA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Scale dynamic balancing to co-op and PvP team balancing algorithms.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APPENDIX /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Backup 1: System Verification &amp; Acceptance Criteria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6459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ACCEPTANCE CRITERIA</a:t>
            </a:r>
          </a:p>
          <a:p>
            <a:pPr>
              <a:defRPr sz="3200" b="1">
                <a:solidFill>
                  <a:srgbClr val="22C55E"/>
                </a:solidFill>
              </a:defRPr>
            </a:pPr>
            <a:r>
              <a:t>15 / 15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100% Core Requirements 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16459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AUTOMATED TEST SUITE</a:t>
            </a:r>
          </a:p>
          <a:p>
            <a:pPr>
              <a:defRPr sz="3200" b="1">
                <a:solidFill>
                  <a:srgbClr val="22D3EE"/>
                </a:solidFill>
              </a:defRPr>
            </a:pPr>
            <a:r>
              <a:t>28 / 28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22 Jest API + 6 Python ML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16459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SERVICE HEALTH &amp; LATENCY</a:t>
            </a:r>
          </a:p>
          <a:p>
            <a:pPr>
              <a:defRPr sz="3200" b="1">
                <a:solidFill>
                  <a:srgbClr val="6366F1"/>
                </a:solidFill>
              </a:defRPr>
            </a:pPr>
            <a:r>
              <a:t>&lt; 15 ms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FastAPI &amp; DB Round-Trip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246888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defRPr sz="1200" b="1">
                <a:solidFill>
                  <a:srgbClr val="22D3EE"/>
                </a:solidFill>
              </a:defRPr>
            </a:pPr>
            <a:r>
              <a:t>VERIFIED SYSTEM ACCEPTANCE CRITERIA CHECKLIST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✓ AC-01: User registration &amp; JWT auth   •   ✓ AC-06: ML returns -1/0/+1 with confidence   •   ✓ AC-11: Recharts queries real DB snapshots   •   ✓ AC-02: Game session initialization   •   ✓ AC-07: Controller enforces 6 guardrails</a:t>
            </a:r>
            <a:br/>
            <a:br/>
            <a:r>
              <a:t>✓ AC-12: Admin model telemetry &amp; switching   •   ✓ AC-03: Real-time telemetry ingestion   •   ✓ AC-08: In-game level parameters change   •   ✓ AC-13: Zod schema input validation   •   ✓ AC-04: Automated 14-feature engine</a:t>
            </a:r>
            <a:br/>
            <a:br/>
            <a:r>
              <a:t>✓ AC-09: Socket.IO zero-refresh HUD sync   •   ✓ AC-14: Viewport coordinate scaling fix   •   ✓ AC-05: ML vector payload to FastAPI   •   ✓ AC-10: Persistent difficulty audit logs   •   ✓ AC-15: Automated tests 100% pass 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APPENDIX /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Backup 2: Tree-Based Feature Importance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📊 FEATURE IMPORTANCE WEIGHTS</a:t>
            </a:r>
          </a:p>
          <a:p>
            <a:br/>
            <a:pPr>
              <a:defRPr sz="1150" b="1">
                <a:solidFill>
                  <a:srgbClr val="22D3EE"/>
                </a:solidFill>
              </a:defRPr>
            </a:pPr>
            <a:r>
              <a:t>• recent_win_rate (17.89%)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Immediate 3-game momentum is the single highest predictor of over/under-challenge.</a:t>
            </a:r>
          </a:p>
          <a:p>
            <a:br/>
            <a:pPr>
              <a:defRPr sz="1150" b="1">
                <a:solidFill>
                  <a:srgbClr val="22D3EE"/>
                </a:solidFill>
              </a:defRPr>
            </a:pPr>
            <a:r>
              <a:t>• consecutive_losses (17.04%)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Rapid frustration safeguard: consecutive losses trigger demotion signals.</a:t>
            </a:r>
          </a:p>
          <a:p>
            <a:br/>
            <a:pPr>
              <a:defRPr sz="1150" b="1">
                <a:solidFill>
                  <a:srgbClr val="22D3EE"/>
                </a:solidFill>
              </a:defRPr>
            </a:pPr>
            <a:r>
              <a:t>• accuracy (12.51%)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Lifetime mechanical aiming skill baseline.</a:t>
            </a:r>
          </a:p>
          <a:p>
            <a:br/>
            <a:pPr>
              <a:defRPr sz="1150" b="1">
                <a:solidFill>
                  <a:srgbClr val="22D3EE"/>
                </a:solidFill>
              </a:defRPr>
            </a:pPr>
            <a:r>
              <a:t>• recent_accuracy (11.75%)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Recent aiming precision across current match targets.</a:t>
            </a:r>
          </a:p>
          <a:p>
            <a:br/>
            <a:pPr>
              <a:defRPr sz="1150" b="1">
                <a:solidFill>
                  <a:srgbClr val="22D3EE"/>
                </a:solidFill>
              </a:defRPr>
            </a:pPr>
            <a:r>
              <a:t>• consecutive_wins (9.91%)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Mastery streak detection for upward promotion.</a:t>
            </a:r>
          </a:p>
          <a:p>
            <a:br/>
            <a:pPr>
              <a:defRPr sz="1150" b="1">
                <a:solidFill>
                  <a:srgbClr val="22D3EE"/>
                </a:solidFill>
              </a:defRPr>
            </a:pPr>
            <a:r>
              <a:t>• win_rate (7.62%)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Historical win consistency across completed matches.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🎯 TARGET SKILL-BAND ALIGNMENT MATRIX</a:t>
            </a:r>
          </a:p>
          <a:p>
            <a:br/>
            <a:pPr>
              <a:defRPr sz="1150" b="1">
                <a:solidFill>
                  <a:srgbClr val="22C55E"/>
                </a:solidFill>
              </a:defRPr>
            </a:pPr>
            <a:r>
              <a:t>• Level 1 (Novice): 30% – 50% Accuracy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Target speed: 60 px/s | Target duration: 3.5s</a:t>
            </a:r>
          </a:p>
          <a:p>
            <a:br/>
            <a:pPr>
              <a:defRPr sz="1150" b="1">
                <a:solidFill>
                  <a:srgbClr val="22C55E"/>
                </a:solidFill>
              </a:defRPr>
            </a:pPr>
            <a:r>
              <a:t>• Level 2 (Apprentice): 45% – 65% Accuracy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Target speed: 100 px/s | Target duration: 2.8s</a:t>
            </a:r>
          </a:p>
          <a:p>
            <a:br/>
            <a:pPr>
              <a:defRPr sz="1150" b="1">
                <a:solidFill>
                  <a:srgbClr val="22C55E"/>
                </a:solidFill>
              </a:defRPr>
            </a:pPr>
            <a:r>
              <a:t>• Level 3 (Competent): 60% – 75% Accuracy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Target speed: 150 px/s | Target duration: 2.2s</a:t>
            </a:r>
          </a:p>
          <a:p>
            <a:br/>
            <a:pPr>
              <a:defRPr sz="1150" b="1">
                <a:solidFill>
                  <a:srgbClr val="22C55E"/>
                </a:solidFill>
              </a:defRPr>
            </a:pPr>
            <a:r>
              <a:t>• Level 4 (Skilled): 70% – 85% Accuracy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Target speed: 200 px/s | Target duration: 1.6s</a:t>
            </a:r>
          </a:p>
          <a:p>
            <a:br/>
            <a:pPr>
              <a:defRPr sz="1150" b="1">
                <a:solidFill>
                  <a:srgbClr val="22C55E"/>
                </a:solidFill>
              </a:defRPr>
            </a:pPr>
            <a:r>
              <a:t>• Level 5 (Master): 80% – 95% Accuracy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Target speed: 260 px/s | Target duration: 1.2s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Trebuchet MS"/>
              </a:defRPr>
            </a:pPr>
            <a:r>
              <a:t>APPENDIX / 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Backup 3: Relational Database Schema &amp; Data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User &amp; Profile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id, email, passwordHash, role (PLAYER/ADMIN)</a:t>
            </a:r>
            <a:br/>
            <a:r>
              <a:t>• currentDifficulty (1–5)</a:t>
            </a:r>
            <a:br/>
            <a:r>
              <a:t>• lifetimeAccuracy, winRate, totalGames</a:t>
            </a:r>
            <a:br/>
            <a:r>
              <a:t>• Relates 1-to-many with GameSession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GameSession &amp; Events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id, playerId, difficultyLevel (1–5)</a:t>
            </a:r>
            <a:br/>
            <a:r>
              <a:t>• score, targetsHit, targetsMissed</a:t>
            </a:r>
            <a:br/>
            <a:r>
              <a:t>• durationSeconds, isCompleted</a:t>
            </a:r>
            <a:br/>
            <a:r>
              <a:t>• Relates 1-to-many with GameplayEvent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GameplayEvent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id, sessionId, eventType</a:t>
            </a:r>
            <a:br/>
            <a:r>
              <a:t>• reactionTimeMs, scoreDelta</a:t>
            </a:r>
            <a:br/>
            <a:r>
              <a:t>• coordinates (clickX, clickY)</a:t>
            </a:r>
            <a:br/>
            <a:r>
              <a:t>• High-throughput telemetry capture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0152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DifficultyChange &amp; DailySnapshot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DifficultyChange: oldLevel, newLevel, confidence, reason</a:t>
            </a:r>
            <a:br/>
            <a:r>
              <a:t>• DailyPerformanceSnapshot: date, accuracy, trend</a:t>
            </a:r>
            <a:br/>
            <a:r>
              <a:t>• Complete immutable audit trail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